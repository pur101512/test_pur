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Experiment Design: Integrating CNN Sequence Model with LightGBM for Port-Out Fraud Detection</a:t>
            </a:r>
          </a:p>
          <a:p/>
          <a:p>
            <a:r>
              <a:t>Prepared for Model Strategy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Current production candidate: LightGBM model with 17 structured features</a:t>
            </a:r>
          </a:p>
          <a:p>
            <a:r>
              <a:t>• New model developed: CNN-based sequence model using memo-type behavioral sequences</a:t>
            </a:r>
          </a:p>
          <a:p>
            <a:r>
              <a:t>• Goal: Determine the best production usage of the sequence model</a:t>
            </a:r>
          </a:p>
          <a:p>
            <a:r>
              <a:t>• Antony requested experimental evaluation using recent 2 months data</a:t>
            </a:r>
          </a:p>
          <a:p>
            <a:r>
              <a:t>• Focus: Improve fraud detection and reduce False Negatives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Under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1: Baseline LightGBM (17 structured features)</a:t>
            </a:r>
          </a:p>
          <a:p>
            <a:r>
              <a:t>Model 2: CNN Sequence Model (memo type sequence + time gap features)</a:t>
            </a:r>
          </a:p>
          <a:p>
            <a:r>
              <a:t>Model 3: Ensemble Model (LightGBM score + CNN score)</a:t>
            </a:r>
          </a:p>
          <a:p>
            <a:r>
              <a:t>Model 4: Feature Augmented Model (CNN score used as feature in LightGBM)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Data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Window: Last 2 months operational data</a:t>
            </a:r>
          </a:p>
          <a:p/>
          <a:p>
            <a:r>
              <a:t>Example split:</a:t>
            </a:r>
          </a:p>
          <a:p>
            <a:r>
              <a:t>• Month 1 → Training</a:t>
            </a:r>
          </a:p>
          <a:p>
            <a:r>
              <a:t>• Month 2 → Testing</a:t>
            </a:r>
          </a:p>
          <a:p/>
          <a:p>
            <a:r>
              <a:t>Purpose:</a:t>
            </a:r>
          </a:p>
          <a:p>
            <a:r>
              <a:t>• Mimics production scenario</a:t>
            </a:r>
          </a:p>
          <a:p>
            <a:r>
              <a:t>• Avoids data leakage</a:t>
            </a:r>
          </a:p>
          <a:p>
            <a:r>
              <a:t>• Evaluates real-world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Model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Extract memo-type events per account</a:t>
            </a:r>
          </a:p>
          <a:p>
            <a:r>
              <a:t>2. Generate behavioral sequence</a:t>
            </a:r>
          </a:p>
          <a:p>
            <a:r>
              <a:t>3. Compute time gaps between events</a:t>
            </a:r>
          </a:p>
          <a:p>
            <a:r>
              <a:t>4. Bin time gaps using Random Forest based binning</a:t>
            </a:r>
          </a:p>
          <a:p>
            <a:r>
              <a:t>5. Create sequence input for CNN</a:t>
            </a:r>
          </a:p>
          <a:p>
            <a:r>
              <a:t>6. CNN produces fraud probability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1: Baseline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LightGBM (17 features)</a:t>
            </a:r>
          </a:p>
          <a:p/>
          <a:p>
            <a:r>
              <a:t>Purpose:</a:t>
            </a:r>
          </a:p>
          <a:p>
            <a:r>
              <a:t>• Establish baseline performance</a:t>
            </a:r>
          </a:p>
          <a:p>
            <a:r>
              <a:t>• Current structured feature approach</a:t>
            </a:r>
          </a:p>
          <a:p/>
          <a:p>
            <a:r>
              <a:t>Metrics evaluated:</a:t>
            </a:r>
          </a:p>
          <a:p>
            <a:r>
              <a:t>• Recall</a:t>
            </a:r>
          </a:p>
          <a:p>
            <a:r>
              <a:t>• Precision</a:t>
            </a:r>
          </a:p>
          <a:p>
            <a:r>
              <a:t>• False Negatives</a:t>
            </a:r>
          </a:p>
          <a:p>
            <a:r>
              <a:t>• AUC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2: Sequence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CNN Sequence Model</a:t>
            </a:r>
          </a:p>
          <a:p/>
          <a:p>
            <a:r>
              <a:t>Purpose:</a:t>
            </a:r>
          </a:p>
          <a:p>
            <a:r>
              <a:t>• Evaluate predictive power of behavioral sequences</a:t>
            </a:r>
          </a:p>
          <a:p>
            <a:r>
              <a:t>• Detect temporal fraud patterns</a:t>
            </a:r>
          </a:p>
          <a:p/>
          <a:p>
            <a:r>
              <a:t>Output:</a:t>
            </a:r>
          </a:p>
          <a:p>
            <a:r>
              <a:t>• Fraud probability score per account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3: Ensemble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 predictions from both models</a:t>
            </a:r>
          </a:p>
          <a:p/>
          <a:p>
            <a:r>
              <a:t>Example:</a:t>
            </a:r>
          </a:p>
          <a:p>
            <a:r>
              <a:t>Final Score = 0.6 × LightGBM + 0.4 × CNN</a:t>
            </a:r>
          </a:p>
          <a:p/>
          <a:p>
            <a:r>
              <a:t>Goal:</a:t>
            </a:r>
          </a:p>
          <a:p>
            <a:r>
              <a:t>• Capture complementary signals</a:t>
            </a:r>
          </a:p>
          <a:p>
            <a:r>
              <a:t>• Improve fraud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4: Feature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model generates fraud score</a:t>
            </a:r>
          </a:p>
          <a:p>
            <a:r>
              <a:t>This score is added as new feature</a:t>
            </a:r>
          </a:p>
          <a:p/>
          <a:p>
            <a:r>
              <a:t>New model:</a:t>
            </a:r>
          </a:p>
          <a:p>
            <a:r>
              <a:t>LightGBM (17 features + CNN score)</a:t>
            </a:r>
          </a:p>
          <a:p/>
          <a:p>
            <a:r>
              <a:t>Goal:</a:t>
            </a:r>
          </a:p>
          <a:p>
            <a:r>
              <a:t>• Combine sequence behavior with structured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metrics:</a:t>
            </a:r>
          </a:p>
          <a:p>
            <a:r>
              <a:t>• Recall (Fraud Detection Rate)</a:t>
            </a:r>
          </a:p>
          <a:p>
            <a:r>
              <a:t>• False Negatives</a:t>
            </a:r>
          </a:p>
          <a:p>
            <a:r>
              <a:t>• True Positives</a:t>
            </a:r>
          </a:p>
          <a:p/>
          <a:p>
            <a:r>
              <a:t>Secondary metrics:</a:t>
            </a:r>
          </a:p>
          <a:p>
            <a:r>
              <a:t>• Precision</a:t>
            </a:r>
          </a:p>
          <a:p>
            <a:r>
              <a:t>• PR-AUC</a:t>
            </a:r>
          </a:p>
          <a:p>
            <a:r>
              <a:t>• ROC-AUC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Evaluation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Comparison Example</a:t>
            </a:r>
          </a:p>
          <a:p/>
          <a:p>
            <a:r>
              <a:t>Model | Recall | FN | Precision | AUC</a:t>
            </a:r>
          </a:p>
          <a:p>
            <a:r>
              <a:t>LightGBM | 0.82 | 120 | 0.72 | 0.91</a:t>
            </a:r>
          </a:p>
          <a:p>
            <a:r>
              <a:t>CNN | 0.78 | 150 | 0.75 | 0.88</a:t>
            </a:r>
          </a:p>
          <a:p>
            <a:r>
              <a:t>Ensemble | 0.86 | 95 | 0.73 | 0.93</a:t>
            </a:r>
          </a:p>
          <a:p>
            <a:r>
              <a:t>Feature Augmented | 0.88 | 80 | 0.74 | 0.94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Decision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selection will consider:</a:t>
            </a:r>
          </a:p>
          <a:p>
            <a:r>
              <a:t>• Fraud detection improvement</a:t>
            </a:r>
          </a:p>
          <a:p>
            <a:r>
              <a:t>• Reduction in False Negatives</a:t>
            </a:r>
          </a:p>
          <a:p>
            <a:r>
              <a:t>• Precision trade-offs</a:t>
            </a:r>
          </a:p>
          <a:p>
            <a:r>
              <a:t>• Deployment complexity</a:t>
            </a:r>
          </a:p>
          <a:p>
            <a:r>
              <a:t>• Inference latency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Run 4 experiment setups</a:t>
            </a:r>
          </a:p>
          <a:p>
            <a:r>
              <a:t>2. Analyze fraud capture overlap</a:t>
            </a:r>
          </a:p>
          <a:p>
            <a:r>
              <a:t>3. Evaluate threshold trade-offs</a:t>
            </a:r>
          </a:p>
          <a:p>
            <a:r>
              <a:t>4. Select best production architecture</a:t>
            </a:r>
          </a:p>
          <a:p>
            <a:r>
              <a:t>5. Design monitoring strategy for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